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206" d="100"/>
          <a:sy n="206" d="100"/>
        </p:scale>
        <p:origin x="504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Delivery Routing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896"/>
                </a:solidFill>
                <a:latin typeface="Calibri"/>
              </a:defRPr>
            </a:pPr>
            <a:r>
              <a:t>CVRP Solution &amp;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A61"/>
                </a:solidFill>
                <a:latin typeface="Calibri"/>
              </a:defRPr>
            </a:pPr>
            <a:r>
              <a:t>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E2A61"/>
                </a:solidFill>
              </a:defRPr>
            </a:pPr>
            <a:r>
              <a:t>The Challenge</a:t>
            </a:r>
          </a:p>
          <a:p>
            <a:pPr>
              <a:spcAft>
                <a:spcPts val="1600"/>
              </a:spcAft>
              <a:defRPr sz="1600">
                <a:solidFill>
                  <a:srgbClr val="333333"/>
                </a:solidFill>
              </a:defRPr>
            </a:pPr>
            <a:r>
              <a:t>Design optimal delivery routes for 2 vehicles serving 20 locations from a central depot, minimizing total distance while respecting capacity constraints.</a:t>
            </a:r>
          </a:p>
          <a:p>
            <a:pPr>
              <a:spcAft>
                <a:spcPts val="800"/>
              </a:spcAft>
              <a:defRPr sz="1800" b="1">
                <a:solidFill>
                  <a:srgbClr val="1E2A61"/>
                </a:solidFill>
              </a:defRPr>
            </a:pPr>
            <a:r>
              <a:t>Key Constraints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Each location visited exactly once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Vehicle capacity: 100 units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All routes start/end at depot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Minimize total travel distance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463040"/>
            <a:ext cx="27432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0" y="22860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28090"/>
                </a:solidFill>
              </a:defRPr>
            </a:pPr>
            <a:r>
              <a:t>1 Depot</a:t>
            </a:r>
            <a:br/>
            <a:r>
              <a:t>20 Locations</a:t>
            </a:r>
            <a:br/>
            <a:r>
              <a:t>2 Vehicles</a:t>
            </a:r>
            <a:br/>
            <a:br/>
            <a:r>
              <a:t>→ Find optimal routes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A61"/>
                </a:solidFill>
                <a:latin typeface="Calibri"/>
              </a:defRPr>
            </a:pPr>
            <a:r>
              <a:t>Problem Understanding: The Inputs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657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A61"/>
                </a:solidFill>
              </a:defRPr>
            </a:pPr>
            <a:r>
              <a:t>Distance Matrix (21×21)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Distances between all nodes (0-20)</a:t>
            </a:r>
            <a:br/>
            <a:br/>
            <a:r>
              <a:t>Symmetric matrix</a:t>
            </a:r>
            <a:br/>
            <a:br/>
            <a:r>
              <a:t>JSON format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371600"/>
            <a:ext cx="3657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0" y="14630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A61"/>
                </a:solidFill>
              </a:defRPr>
            </a:pPr>
            <a:r>
              <a:t>Demands (21 nodes)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8288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5-15 units per location</a:t>
            </a:r>
            <a:br/>
            <a:br/>
            <a:r>
              <a:t>Depot demand = 0</a:t>
            </a:r>
            <a:br/>
            <a:br/>
            <a:r>
              <a:t>Total: 190 units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3657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A61"/>
                </a:solidFill>
              </a:defRPr>
            </a:pPr>
            <a:r>
              <a:t>Vehicle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4903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Each vehicle: 100 units max</a:t>
            </a:r>
            <a:br/>
            <a:r>
              <a:t>2 identical vehicles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3291840"/>
            <a:ext cx="3657600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356616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All data provided in</a:t>
            </a:r>
            <a:br/>
            <a:r>
              <a:t>cvrp_problem_data.json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A61"/>
                </a:solidFill>
                <a:latin typeface="Calibri"/>
              </a:defRPr>
            </a:pPr>
            <a:r>
              <a:t>Solution Approach: Method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E2A61"/>
                </a:solidFill>
              </a:defRPr>
            </a:pPr>
            <a:r>
              <a:t>Optimization Approach</a:t>
            </a:r>
          </a:p>
          <a:p>
            <a:pPr>
              <a:spcAft>
                <a:spcPts val="1600"/>
              </a:spcAft>
              <a:defRPr sz="1600">
                <a:solidFill>
                  <a:srgbClr val="333333"/>
                </a:solidFill>
              </a:defRPr>
            </a:pPr>
            <a:r>
              <a:t>Mixed Integer Programming (MIP) using Gurobi optimizer</a:t>
            </a:r>
          </a:p>
          <a:p>
            <a:pPr>
              <a:spcAft>
                <a:spcPts val="800"/>
              </a:spcAft>
              <a:defRPr sz="1800" b="1">
                <a:solidFill>
                  <a:srgbClr val="1E2A61"/>
                </a:solidFill>
              </a:defRPr>
            </a:pPr>
            <a:r>
              <a:t>Model Components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Binary routing variables: x_ijk = 1 if vehicle k travels from i to j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Binary assignment variables: y_ik = 1 if vehicle k services location i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Objective: Minimize total distance traveled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Constraints: Visit once, capacity limits, depot start/end, flow conservation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A61"/>
                </a:solidFill>
                <a:latin typeface="Calibri"/>
              </a:defRPr>
            </a:pPr>
            <a:r>
              <a:t>Solution Approach: Key Technical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0040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Three-Index Arc 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5087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→  Explicit vehicle routes  •  Clear capacity tracking  •  Natural for 2-vehicle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1600200"/>
            <a:ext cx="13716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3200400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Dynamic Subtour Elimination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3317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→  Lazy constraints added as needed  •  Avoids exponential size  •  Callback for cycles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2423160"/>
            <a:ext cx="137160" cy="1371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3200400" cy="5486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15468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Why Gurobi?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1546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→  Industry-standard MIP solver  •  Efficient branch-and-cut  •  Built-in callback 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246120"/>
            <a:ext cx="137160" cy="137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A61"/>
                </a:solidFill>
                <a:latin typeface="Calibri"/>
              </a:defRPr>
            </a:pPr>
            <a:r>
              <a:t>Results: Optimal Routes Found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560320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215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Total Distance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2560320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✓ Proven Optimal (0% gap)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280160"/>
            <a:ext cx="47548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0" y="1280160"/>
            <a:ext cx="73152" cy="8229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0" y="135331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A61"/>
                </a:solidFill>
              </a:defRPr>
            </a:pPr>
            <a:r>
              <a:t>Vehicle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6002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0 → 5 → 14 → 6 → 10 → 9 → 19 → 13 → 4 → 3 → 1 →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828800"/>
            <a:ext cx="4389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Load: 92/100 units (92%) | Distance: 106 units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240280"/>
            <a:ext cx="47548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0" y="2240280"/>
            <a:ext cx="73152" cy="8229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0" y="23134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A61"/>
                </a:solidFill>
              </a:defRPr>
            </a:pPr>
            <a:r>
              <a:t>Vehicle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5603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0 → 2 → 20 → 15 → 16 → 18 → 7 → 8 → 17 → 12 → 11 →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788920"/>
            <a:ext cx="4389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Load: 98/100 units (98%) | Distance: 109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9260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2A61"/>
                </a:solidFill>
              </a:defRPr>
            </a:pPr>
            <a:r>
              <a:t>Capacity Validation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✓ Both vehicles within 100-unit limit</a:t>
            </a:r>
            <a:br/>
            <a:r>
              <a:t>✓ High utilization (92% &amp; 98%)</a:t>
            </a:r>
            <a:br/>
            <a:r>
              <a:t>✓ Efficient load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A61"/>
                </a:solidFill>
                <a:latin typeface="Calibri"/>
              </a:defRPr>
            </a:pPr>
            <a:r>
              <a:t>Results: Solution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63040"/>
            <a:ext cx="32004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28090"/>
                </a:solidFill>
              </a:defRPr>
            </a:pPr>
            <a:r>
              <a:t>144 sec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933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A61"/>
                </a:solidFill>
              </a:defRPr>
            </a:pPr>
            <a:r>
              <a:t>Solve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402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Optimization completed in under 3 minutes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463040"/>
            <a:ext cx="32004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1600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28090"/>
                </a:solidFill>
              </a:defRPr>
            </a:pPr>
            <a:r>
              <a:t>101,642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933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A61"/>
                </a:solidFill>
              </a:defRPr>
            </a:pPr>
            <a:r>
              <a:t>Nodes Explored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2402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Branch-and-bound tree 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926080"/>
            <a:ext cx="32004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0632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28090"/>
                </a:solidFill>
              </a:defRPr>
            </a:pPr>
            <a:r>
              <a:t>5,020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45643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A61"/>
                </a:solidFill>
              </a:defRPr>
            </a:pPr>
            <a:r>
              <a:t>Lazy Constraints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7033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Subtour cuts added dynamically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926080"/>
            <a:ext cx="32004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0" y="30632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28090"/>
                </a:solidFill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45643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A61"/>
                </a:solidFill>
              </a:defRPr>
            </a:pPr>
            <a:r>
              <a:t>Optimality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7033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Proven optimal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A61"/>
                </a:solidFill>
                <a:latin typeface="Calibri"/>
              </a:defRPr>
            </a:pPr>
            <a:r>
              <a:t>Insights &amp; 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617453" cy="29956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2A61"/>
                </a:solidFill>
              </a:defRPr>
            </a:pPr>
            <a:r>
              <a:rPr dirty="0"/>
              <a:t>Key Insights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Lazy constraint approach significantly reduced initial model size while maintaining optimality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Near-perfect capacity utilization (92% &amp; 98%) demonstrates efficient route assignment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Three-index formulation makes vehicle-specific routing explicit and intuitive</a:t>
            </a:r>
          </a:p>
          <a:p>
            <a:pPr>
              <a:spcBef>
                <a:spcPts val="1000"/>
              </a:spcBef>
              <a:spcAft>
                <a:spcPts val="800"/>
              </a:spcAft>
              <a:defRPr sz="1800" b="1">
                <a:solidFill>
                  <a:srgbClr val="1E2A61"/>
                </a:solidFill>
              </a:defRPr>
            </a:pPr>
            <a:r>
              <a:rPr dirty="0"/>
              <a:t>Lessons Learned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Learned </a:t>
            </a:r>
            <a:r>
              <a:rPr dirty="0" err="1"/>
              <a:t>Gurobi</a:t>
            </a:r>
            <a:r>
              <a:rPr dirty="0"/>
              <a:t> and advanced features like callbacks for dynamic constraint generation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Began transition from optimal control background to MILP optimization techniques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Subtour elimination is critical - initial attempts without lazy constraints produced invalid routes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Post-processing validation </a:t>
            </a:r>
            <a:r>
              <a:rPr lang="en-US" dirty="0"/>
              <a:t>is </a:t>
            </a:r>
            <a:r>
              <a:rPr dirty="0"/>
              <a:t>essential for verifying capacity and connectivity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A61"/>
                </a:solidFill>
                <a:latin typeface="Calibri"/>
              </a:defRPr>
            </a:pPr>
            <a:r>
              <a:t>Possible Extensions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37744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28090"/>
                </a:solidFill>
              </a:defRPr>
            </a:pPr>
            <a:r>
              <a:t>More Vehicles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Scale to 3+ vehicles</a:t>
            </a:r>
          </a:p>
          <a:p>
            <a:r>
              <a:t>Handle heterogeneous fleet (different capacities)</a:t>
            </a:r>
          </a:p>
          <a:p>
            <a:r>
              <a:t>Multiple depots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463040"/>
            <a:ext cx="237744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29000" y="16002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A896"/>
                </a:solidFill>
              </a:defRPr>
            </a:pPr>
            <a:r>
              <a:t>Time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0574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Add delivery time constraints</a:t>
            </a:r>
          </a:p>
          <a:p>
            <a:r>
              <a:t>Service time at each location</a:t>
            </a:r>
          </a:p>
          <a:p>
            <a:r>
              <a:t>Route duration limits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463040"/>
            <a:ext cx="237744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89320" y="16002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2C39A"/>
                </a:solidFill>
              </a:defRPr>
            </a:pPr>
            <a:r>
              <a:t>Dynamic Elements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0574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Real-time traffic data integration</a:t>
            </a:r>
          </a:p>
          <a:p>
            <a:r>
              <a:t>Dynamic demand updates</a:t>
            </a:r>
          </a:p>
          <a:p>
            <a:r>
              <a:t>Vehicle breakdowns/re-routing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Alternative Approaches: Could explore heuristics (Clarke-Wright, genetic algorithms) for larger instances or metaheuristics for approximate solutions with time constraints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896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570</Words>
  <Application>Microsoft Office PowerPoint</Application>
  <PresentationFormat>On-screen Show (16:9)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Yacine El Alaoui Faris</cp:lastModifiedBy>
  <cp:revision>2</cp:revision>
  <dcterms:created xsi:type="dcterms:W3CDTF">2013-01-27T09:14:16Z</dcterms:created>
  <dcterms:modified xsi:type="dcterms:W3CDTF">2026-02-04T01:51:11Z</dcterms:modified>
  <cp:category/>
</cp:coreProperties>
</file>